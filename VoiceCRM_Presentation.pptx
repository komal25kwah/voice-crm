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5481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2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754880" cy="4754880"/>
          </a:xfrm>
          <a:prstGeom prst="ellipse">
            <a:avLst/>
          </a:prstGeom>
          <a:solidFill>
            <a:srgbClr val="1B3A6B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4023360" cy="4023360"/>
          </a:xfrm>
          <a:prstGeom prst="ellipse">
            <a:avLst/>
          </a:prstGeom>
          <a:solidFill>
            <a:srgbClr val="1B3A6B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43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DB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9601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VoiceCRM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Voice-Based Customer Relationship Management System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3063240"/>
            <a:ext cx="2743200" cy="0"/>
          </a:xfrm>
          <a:prstGeom prst="line">
            <a:avLst/>
          </a:prstGeom>
          <a:noFill/>
          <a:ln w="31750">
            <a:solidFill>
              <a:srgbClr val="2F6F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DB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Rabia Nadeem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7307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DB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Technology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2245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Project Presentation  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5074920"/>
            <a:ext cx="777240" cy="777240"/>
          </a:xfrm>
          <a:prstGeom prst="ellipse">
            <a:avLst/>
          </a:prstGeom>
          <a:solidFill>
            <a:srgbClr val="1B3A6B"/>
          </a:solidFill>
          <a:ln/>
        </p:spPr>
      </p:sp>
      <p:pic>
        <p:nvPicPr>
          <p:cNvPr id="12" name="Image 0" descr="icons/m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5269230"/>
            <a:ext cx="388620" cy="3886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22960" y="5074920"/>
            <a:ext cx="777240" cy="777240"/>
          </a:xfrm>
          <a:prstGeom prst="ellipse">
            <a:avLst/>
          </a:prstGeom>
          <a:ln w="19050">
            <a:solidFill>
              <a:srgbClr val="2F6F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592531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154680" y="5074920"/>
            <a:ext cx="777240" cy="777240"/>
          </a:xfrm>
          <a:prstGeom prst="ellipse">
            <a:avLst/>
          </a:prstGeom>
          <a:solidFill>
            <a:srgbClr val="1B3A6B"/>
          </a:solidFill>
          <a:ln/>
        </p:spPr>
      </p:sp>
      <p:pic>
        <p:nvPicPr>
          <p:cNvPr id="16" name="Image 1" descr="icons/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8990" y="5269230"/>
            <a:ext cx="388620" cy="38862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154680" y="5074920"/>
            <a:ext cx="777240" cy="777240"/>
          </a:xfrm>
          <a:prstGeom prst="ellipse">
            <a:avLst/>
          </a:prstGeom>
          <a:ln w="19050">
            <a:solidFill>
              <a:srgbClr val="2F6FE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834640" y="592531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Processing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486400" y="5074920"/>
            <a:ext cx="777240" cy="777240"/>
          </a:xfrm>
          <a:prstGeom prst="ellipse">
            <a:avLst/>
          </a:prstGeom>
          <a:solidFill>
            <a:srgbClr val="1B3A6B"/>
          </a:solidFill>
          <a:ln/>
        </p:spPr>
      </p:sp>
      <p:pic>
        <p:nvPicPr>
          <p:cNvPr id="20" name="Image 2" descr="icons/cloud_d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0710" y="5269230"/>
            <a:ext cx="388620" cy="38862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486400" y="5074920"/>
            <a:ext cx="777240" cy="777240"/>
          </a:xfrm>
          <a:prstGeom prst="ellipse">
            <a:avLst/>
          </a:prstGeom>
          <a:ln w="19050">
            <a:solidFill>
              <a:srgbClr val="2F6FED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166360" y="592531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Database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7818120" y="5074920"/>
            <a:ext cx="777240" cy="777240"/>
          </a:xfrm>
          <a:prstGeom prst="ellipse">
            <a:avLst/>
          </a:prstGeom>
          <a:solidFill>
            <a:srgbClr val="1B3A6B"/>
          </a:solidFill>
          <a:ln/>
        </p:spPr>
      </p:sp>
      <p:pic>
        <p:nvPicPr>
          <p:cNvPr id="24" name="Image 3" descr="icons/dash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2430" y="5269230"/>
            <a:ext cx="388620" cy="38862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818120" y="5074920"/>
            <a:ext cx="777240" cy="777240"/>
          </a:xfrm>
          <a:prstGeom prst="ellipse">
            <a:avLst/>
          </a:prstGeom>
          <a:ln w="19050">
            <a:solidFill>
              <a:srgbClr val="2F6FED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498080" y="592531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Dashboard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VoiceCRM is needed, and what it sets out to achieve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846320"/>
          </a:xfrm>
          <a:prstGeom prst="roundRect">
            <a:avLst>
              <a:gd name="adj" fmla="val 2264"/>
            </a:avLst>
          </a:prstGeom>
          <a:solidFill>
            <a:srgbClr val="F3F8FD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2880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s/warning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239" y="1956359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9280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2706624"/>
            <a:ext cx="100584" cy="100584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9" name="Text 6"/>
          <p:cNvSpPr/>
          <p:nvPr/>
        </p:nvSpPr>
        <p:spPr>
          <a:xfrm>
            <a:off x="1170432" y="2578608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employees manually fill CRM reports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14400" y="3602736"/>
            <a:ext cx="100584" cy="100584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1" name="Text 8"/>
          <p:cNvSpPr/>
          <p:nvPr/>
        </p:nvSpPr>
        <p:spPr>
          <a:xfrm>
            <a:off x="1170432" y="347472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entry is slow and error-prone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914400" y="4498848"/>
            <a:ext cx="100584" cy="100584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3" name="Text 10"/>
          <p:cNvSpPr/>
          <p:nvPr/>
        </p:nvSpPr>
        <p:spPr>
          <a:xfrm>
            <a:off x="1170432" y="4370832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may forget important visit details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914400" y="5394960"/>
            <a:ext cx="100584" cy="100584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5" name="Text 12"/>
          <p:cNvSpPr/>
          <p:nvPr/>
        </p:nvSpPr>
        <p:spPr>
          <a:xfrm>
            <a:off x="1170432" y="5266944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are not generated in real time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263640" y="1508760"/>
            <a:ext cx="5349240" cy="4846320"/>
          </a:xfrm>
          <a:prstGeom prst="roundRect">
            <a:avLst>
              <a:gd name="adj" fmla="val 2264"/>
            </a:avLst>
          </a:prstGeom>
          <a:solidFill>
            <a:srgbClr val="0F2245"/>
          </a:solidFill>
          <a:ln/>
        </p:spPr>
      </p:sp>
      <p:sp>
        <p:nvSpPr>
          <p:cNvPr id="17" name="Shape 14"/>
          <p:cNvSpPr/>
          <p:nvPr/>
        </p:nvSpPr>
        <p:spPr>
          <a:xfrm>
            <a:off x="6583680" y="1828800"/>
            <a:ext cx="566928" cy="566928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18" name="Image 1" descr="icons/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239" y="1956359"/>
            <a:ext cx="311810" cy="31181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315200" y="189280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6629400" y="2606040"/>
            <a:ext cx="310896" cy="310896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21" name="Image 2" descr="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8470" y="2665110"/>
            <a:ext cx="192756" cy="1927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086600" y="256032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or upload visit audio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6629400" y="3319272"/>
            <a:ext cx="310896" cy="310896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24" name="Image 3" descr="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8470" y="3378342"/>
            <a:ext cx="192756" cy="1927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86600" y="3273552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speech into text using AI</a:t>
            </a:r>
            <a:endParaRPr lang="en-US" sz="1350" dirty="0"/>
          </a:p>
        </p:txBody>
      </p:sp>
      <p:sp>
        <p:nvSpPr>
          <p:cNvPr id="26" name="Shape 20"/>
          <p:cNvSpPr/>
          <p:nvPr/>
        </p:nvSpPr>
        <p:spPr>
          <a:xfrm>
            <a:off x="6629400" y="4032504"/>
            <a:ext cx="310896" cy="310896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27" name="Image 4" descr="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8470" y="4091574"/>
            <a:ext cx="192756" cy="1927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086600" y="3986784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CRM information automatically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6629400" y="4745736"/>
            <a:ext cx="310896" cy="310896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30" name="Image 5" descr="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8470" y="4804806"/>
            <a:ext cx="192756" cy="19275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086600" y="4700016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structured data into the cloud</a:t>
            </a:r>
            <a:endParaRPr lang="en-US" sz="1350" dirty="0"/>
          </a:p>
        </p:txBody>
      </p:sp>
      <p:sp>
        <p:nvSpPr>
          <p:cNvPr id="32" name="Shape 24"/>
          <p:cNvSpPr/>
          <p:nvPr/>
        </p:nvSpPr>
        <p:spPr>
          <a:xfrm>
            <a:off x="6629400" y="5458968"/>
            <a:ext cx="310896" cy="310896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33" name="Image 6" descr="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8470" y="5518038"/>
            <a:ext cx="192756" cy="19275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086600" y="5413248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reports on manager dashboard</a:t>
            </a:r>
            <a:endParaRPr lang="en-US" sz="1350" dirty="0"/>
          </a:p>
        </p:txBody>
      </p:sp>
      <p:sp>
        <p:nvSpPr>
          <p:cNvPr id="35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VoiceCRM  |  AI Project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from voice capture to CRM reporting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61208" y="1298448"/>
            <a:ext cx="5669280" cy="420624"/>
          </a:xfrm>
          <a:prstGeom prst="roundRect">
            <a:avLst>
              <a:gd name="adj" fmla="val 15217"/>
            </a:avLst>
          </a:prstGeom>
          <a:solidFill>
            <a:srgbClr val="0F2245"/>
          </a:solidFill>
          <a:ln w="12700">
            <a:solidFill>
              <a:srgbClr val="0F22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34360" y="1353312"/>
            <a:ext cx="310896" cy="310896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6" name="Image 0" descr="icons/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6539" y="1415491"/>
            <a:ext cx="186538" cy="1865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764128" y="1298448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(Field Visit)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 rot="10800000">
            <a:off x="6036412" y="1730502"/>
            <a:ext cx="118872" cy="100584"/>
          </a:xfrm>
          <a:prstGeom prst="triangle">
            <a:avLst/>
          </a:prstGeom>
          <a:solidFill>
            <a:srgbClr val="2F6FED"/>
          </a:solidFill>
          <a:ln/>
        </p:spPr>
      </p:sp>
      <p:sp>
        <p:nvSpPr>
          <p:cNvPr id="9" name="Shape 6"/>
          <p:cNvSpPr/>
          <p:nvPr/>
        </p:nvSpPr>
        <p:spPr>
          <a:xfrm>
            <a:off x="3261208" y="1842516"/>
            <a:ext cx="5669280" cy="420624"/>
          </a:xfrm>
          <a:prstGeom prst="roundRect">
            <a:avLst>
              <a:gd name="adj" fmla="val 15217"/>
            </a:avLst>
          </a:prstGeom>
          <a:solidFill>
            <a:srgbClr val="F3F8FD"/>
          </a:solidFill>
          <a:ln w="12700">
            <a:solidFill>
              <a:srgbClr val="D3E3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34360" y="1897380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icons/code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6539" y="1959559"/>
            <a:ext cx="186538" cy="1865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64128" y="1842516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HTML, CSS, JavaScript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 rot="10800000">
            <a:off x="6036412" y="2274570"/>
            <a:ext cx="118872" cy="100584"/>
          </a:xfrm>
          <a:prstGeom prst="triangle">
            <a:avLst/>
          </a:prstGeom>
          <a:solidFill>
            <a:srgbClr val="2F6FED"/>
          </a:solidFill>
          <a:ln/>
        </p:spPr>
      </p:sp>
      <p:sp>
        <p:nvSpPr>
          <p:cNvPr id="14" name="Shape 10"/>
          <p:cNvSpPr/>
          <p:nvPr/>
        </p:nvSpPr>
        <p:spPr>
          <a:xfrm>
            <a:off x="3261208" y="2386584"/>
            <a:ext cx="5669280" cy="420624"/>
          </a:xfrm>
          <a:prstGeom prst="roundRect">
            <a:avLst>
              <a:gd name="adj" fmla="val 15217"/>
            </a:avLst>
          </a:prstGeom>
          <a:solidFill>
            <a:srgbClr val="F3F8FD"/>
          </a:solidFill>
          <a:ln w="12700">
            <a:solidFill>
              <a:srgbClr val="D3E3F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334360" y="2441448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icons/server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6539" y="2503627"/>
            <a:ext cx="186538" cy="1865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764128" y="2386584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(Python)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 rot="10800000">
            <a:off x="6036412" y="2818638"/>
            <a:ext cx="118872" cy="100584"/>
          </a:xfrm>
          <a:prstGeom prst="triangle">
            <a:avLst/>
          </a:prstGeom>
          <a:solidFill>
            <a:srgbClr val="2F6FED"/>
          </a:solidFill>
          <a:ln/>
        </p:spPr>
      </p:sp>
      <p:sp>
        <p:nvSpPr>
          <p:cNvPr id="19" name="Shape 14"/>
          <p:cNvSpPr/>
          <p:nvPr/>
        </p:nvSpPr>
        <p:spPr>
          <a:xfrm>
            <a:off x="3261208" y="2930652"/>
            <a:ext cx="5669280" cy="420624"/>
          </a:xfrm>
          <a:prstGeom prst="roundRect">
            <a:avLst>
              <a:gd name="adj" fmla="val 15217"/>
            </a:avLst>
          </a:prstGeom>
          <a:solidFill>
            <a:srgbClr val="F3F8FD"/>
          </a:solidFill>
          <a:ln w="12700">
            <a:solidFill>
              <a:srgbClr val="D3E3F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334360" y="2985516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icons/mic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6539" y="3047695"/>
            <a:ext cx="186538" cy="1865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764128" y="2930652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Whisper — Speech-to-Text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 rot="10800000">
            <a:off x="6036412" y="3362706"/>
            <a:ext cx="118872" cy="100584"/>
          </a:xfrm>
          <a:prstGeom prst="triangle">
            <a:avLst/>
          </a:prstGeom>
          <a:solidFill>
            <a:srgbClr val="2F6FED"/>
          </a:solidFill>
          <a:ln/>
        </p:spPr>
      </p:sp>
      <p:sp>
        <p:nvSpPr>
          <p:cNvPr id="24" name="Shape 18"/>
          <p:cNvSpPr/>
          <p:nvPr/>
        </p:nvSpPr>
        <p:spPr>
          <a:xfrm>
            <a:off x="3261208" y="3474720"/>
            <a:ext cx="5669280" cy="420624"/>
          </a:xfrm>
          <a:prstGeom prst="roundRect">
            <a:avLst>
              <a:gd name="adj" fmla="val 15217"/>
            </a:avLst>
          </a:prstGeom>
          <a:solidFill>
            <a:srgbClr val="F3F8FD"/>
          </a:solidFill>
          <a:ln w="12700">
            <a:solidFill>
              <a:srgbClr val="D3E3F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334360" y="3529584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icons/brain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6539" y="3591763"/>
            <a:ext cx="186538" cy="18653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764128" y="3474720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— CRM Information Extraction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 rot="10800000">
            <a:off x="6036412" y="3906774"/>
            <a:ext cx="118872" cy="100584"/>
          </a:xfrm>
          <a:prstGeom prst="triangle">
            <a:avLst/>
          </a:prstGeom>
          <a:solidFill>
            <a:srgbClr val="2F6FED"/>
          </a:solidFill>
          <a:ln/>
        </p:spPr>
      </p:sp>
      <p:sp>
        <p:nvSpPr>
          <p:cNvPr id="29" name="Shape 22"/>
          <p:cNvSpPr/>
          <p:nvPr/>
        </p:nvSpPr>
        <p:spPr>
          <a:xfrm>
            <a:off x="3261208" y="4018788"/>
            <a:ext cx="5669280" cy="420624"/>
          </a:xfrm>
          <a:prstGeom prst="roundRect">
            <a:avLst>
              <a:gd name="adj" fmla="val 15217"/>
            </a:avLst>
          </a:prstGeom>
          <a:solidFill>
            <a:srgbClr val="F3F8FD"/>
          </a:solidFill>
          <a:ln w="12700">
            <a:solidFill>
              <a:srgbClr val="D3E3F5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3334360" y="407365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icons/json_bl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96539" y="4135831"/>
            <a:ext cx="186538" cy="18653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764128" y="4018788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Output</a:t>
            </a:r>
            <a:endParaRPr lang="en-US" sz="1250" dirty="0"/>
          </a:p>
        </p:txBody>
      </p:sp>
      <p:sp>
        <p:nvSpPr>
          <p:cNvPr id="33" name="Shape 25"/>
          <p:cNvSpPr/>
          <p:nvPr/>
        </p:nvSpPr>
        <p:spPr>
          <a:xfrm rot="10800000">
            <a:off x="6036412" y="4450842"/>
            <a:ext cx="118872" cy="100584"/>
          </a:xfrm>
          <a:prstGeom prst="triangle">
            <a:avLst/>
          </a:prstGeom>
          <a:solidFill>
            <a:srgbClr val="2F6FED"/>
          </a:solidFill>
          <a:ln/>
        </p:spPr>
      </p:sp>
      <p:sp>
        <p:nvSpPr>
          <p:cNvPr id="34" name="Shape 26"/>
          <p:cNvSpPr/>
          <p:nvPr/>
        </p:nvSpPr>
        <p:spPr>
          <a:xfrm>
            <a:off x="3261208" y="4562856"/>
            <a:ext cx="5669280" cy="420624"/>
          </a:xfrm>
          <a:prstGeom prst="roundRect">
            <a:avLst>
              <a:gd name="adj" fmla="val 15217"/>
            </a:avLst>
          </a:prstGeom>
          <a:solidFill>
            <a:srgbClr val="F3F8FD"/>
          </a:solidFill>
          <a:ln w="12700">
            <a:solidFill>
              <a:srgbClr val="D3E3F5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3334360" y="4617720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6" descr="icons/database_blu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96539" y="4679899"/>
            <a:ext cx="186538" cy="18653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3764128" y="4562856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— PostgreSQL Database</a:t>
            </a:r>
            <a:endParaRPr lang="en-US" sz="1250" dirty="0"/>
          </a:p>
        </p:txBody>
      </p:sp>
      <p:sp>
        <p:nvSpPr>
          <p:cNvPr id="38" name="Shape 29"/>
          <p:cNvSpPr/>
          <p:nvPr/>
        </p:nvSpPr>
        <p:spPr>
          <a:xfrm rot="10800000">
            <a:off x="6036412" y="4994910"/>
            <a:ext cx="118872" cy="100584"/>
          </a:xfrm>
          <a:prstGeom prst="triangle">
            <a:avLst/>
          </a:prstGeom>
          <a:solidFill>
            <a:srgbClr val="2F6FED"/>
          </a:solidFill>
          <a:ln/>
        </p:spPr>
      </p:sp>
      <p:sp>
        <p:nvSpPr>
          <p:cNvPr id="39" name="Shape 30"/>
          <p:cNvSpPr/>
          <p:nvPr/>
        </p:nvSpPr>
        <p:spPr>
          <a:xfrm>
            <a:off x="3261208" y="5106924"/>
            <a:ext cx="5669280" cy="420624"/>
          </a:xfrm>
          <a:prstGeom prst="roundRect">
            <a:avLst>
              <a:gd name="adj" fmla="val 15217"/>
            </a:avLst>
          </a:prstGeom>
          <a:solidFill>
            <a:srgbClr val="0F2245"/>
          </a:solidFill>
          <a:ln w="12700">
            <a:solidFill>
              <a:srgbClr val="0F2245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3334360" y="5161788"/>
            <a:ext cx="310896" cy="310896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41" name="Image 7" descr="icons/dashboar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96539" y="5223967"/>
            <a:ext cx="186538" cy="18653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3764128" y="5106924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Dashboard</a:t>
            </a:r>
            <a:endParaRPr lang="en-US" sz="1250" dirty="0"/>
          </a:p>
        </p:txBody>
      </p:sp>
      <p:sp>
        <p:nvSpPr>
          <p:cNvPr id="43" name="Shape 33"/>
          <p:cNvSpPr/>
          <p:nvPr/>
        </p:nvSpPr>
        <p:spPr>
          <a:xfrm>
            <a:off x="822960" y="5692140"/>
            <a:ext cx="10543032" cy="502920"/>
          </a:xfrm>
          <a:prstGeom prst="roundRect">
            <a:avLst>
              <a:gd name="adj" fmla="val 14545"/>
            </a:avLst>
          </a:prstGeom>
          <a:solidFill>
            <a:srgbClr val="E8F1FB"/>
          </a:solidFill>
          <a:ln/>
        </p:spPr>
      </p:sp>
      <p:sp>
        <p:nvSpPr>
          <p:cNvPr id="44" name="Text 34"/>
          <p:cNvSpPr/>
          <p:nvPr/>
        </p:nvSpPr>
        <p:spPr>
          <a:xfrm>
            <a:off x="1005840" y="5692140"/>
            <a:ext cx="10177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0F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automates the complete CRM reporting process — from voice input to structured database storage.</a:t>
            </a:r>
            <a:endParaRPr lang="en-US" sz="1250" dirty="0"/>
          </a:p>
        </p:txBody>
      </p:sp>
      <p:sp>
        <p:nvSpPr>
          <p:cNvPr id="45" name="Text 3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VoiceCRM  |   AI Project</a:t>
            </a:r>
            <a:endParaRPr lang="en-US" sz="900" dirty="0"/>
          </a:p>
        </p:txBody>
      </p:sp>
      <p:sp>
        <p:nvSpPr>
          <p:cNvPr id="46" name="Text 3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technology stack powering the VoiceCRM pipeline</a:t>
            </a:r>
            <a:endParaRPr lang="en-US" sz="1300" dirty="0"/>
          </a:p>
        </p:txBody>
      </p:sp>
      <p:pic>
        <p:nvPicPr>
          <p:cNvPr id="4" name="Image 0" descr="icons/html5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371600"/>
            <a:ext cx="457200" cy="457200"/>
          </a:xfrm>
          <a:prstGeom prst="rect">
            <a:avLst/>
          </a:prstGeom>
        </p:spPr>
      </p:pic>
      <p:pic>
        <p:nvPicPr>
          <p:cNvPr id="5" name="Image 1" descr="icons/css3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9854" y="1371600"/>
            <a:ext cx="457200" cy="457200"/>
          </a:xfrm>
          <a:prstGeom prst="rect">
            <a:avLst/>
          </a:prstGeom>
        </p:spPr>
      </p:pic>
      <p:pic>
        <p:nvPicPr>
          <p:cNvPr id="6" name="Image 2" descr="icons/js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869" y="1371600"/>
            <a:ext cx="457200" cy="457200"/>
          </a:xfrm>
          <a:prstGeom prst="rect">
            <a:avLst/>
          </a:prstGeom>
        </p:spPr>
      </p:pic>
      <p:pic>
        <p:nvPicPr>
          <p:cNvPr id="7" name="Image 3" descr="icons/python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7883" y="1371600"/>
            <a:ext cx="457200" cy="457200"/>
          </a:xfrm>
          <a:prstGeom prst="rect">
            <a:avLst/>
          </a:prstGeom>
        </p:spPr>
      </p:pic>
      <p:pic>
        <p:nvPicPr>
          <p:cNvPr id="8" name="Image 4" descr="icons/database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1898" y="1371600"/>
            <a:ext cx="457200" cy="457200"/>
          </a:xfrm>
          <a:prstGeom prst="rect">
            <a:avLst/>
          </a:prstGeom>
        </p:spPr>
      </p:pic>
      <p:pic>
        <p:nvPicPr>
          <p:cNvPr id="9" name="Image 5" descr="icons/brain_bl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25912" y="1371600"/>
            <a:ext cx="457200" cy="45720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2057400"/>
          <a:ext cx="10177272" cy="4343405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6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8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8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Interface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8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8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JavaScript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Recording Audio &amp; API Calls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8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8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Logic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8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Whisper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Speech-to-Text Conversion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48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 Information Extraction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48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Database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48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Frontend–Backend Communication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48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Data Format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1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VoiceCRM  |   AI Project</a:t>
            </a:r>
            <a:endParaRPr lang="en-US" sz="900" dirty="0"/>
          </a:p>
        </p:txBody>
      </p:sp>
      <p:sp>
        <p:nvSpPr>
          <p:cNvPr id="12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Future Scope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VoiceCRM delivers today, and where it can grow next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3520440"/>
          </a:xfrm>
          <a:prstGeom prst="roundRect">
            <a:avLst>
              <a:gd name="adj" fmla="val 3117"/>
            </a:avLst>
          </a:prstGeom>
          <a:solidFill>
            <a:srgbClr val="F3F8FD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0136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s/check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3" y="19037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3794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914400" y="2519172"/>
            <a:ext cx="91440" cy="9144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241401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Recording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14400" y="2880360"/>
            <a:ext cx="91440" cy="9144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27752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Upload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14400" y="3241548"/>
            <a:ext cx="91440" cy="9144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31363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Speech Recognition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14400" y="3602736"/>
            <a:ext cx="91440" cy="9144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34975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CRM Data Extraction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914400" y="3963924"/>
            <a:ext cx="91440" cy="9144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7" name="Text 14"/>
          <p:cNvSpPr/>
          <p:nvPr/>
        </p:nvSpPr>
        <p:spPr>
          <a:xfrm>
            <a:off x="1143000" y="38587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Database Storage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914400" y="4325112"/>
            <a:ext cx="91440" cy="9144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9" name="Text 16"/>
          <p:cNvSpPr/>
          <p:nvPr/>
        </p:nvSpPr>
        <p:spPr>
          <a:xfrm>
            <a:off x="1143000" y="421995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Dashboard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914400" y="4686300"/>
            <a:ext cx="91440" cy="9144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21" name="Text 18"/>
          <p:cNvSpPr/>
          <p:nvPr/>
        </p:nvSpPr>
        <p:spPr>
          <a:xfrm>
            <a:off x="1143000" y="458114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Accurate Reporting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263640" y="1508760"/>
            <a:ext cx="5349240" cy="3520440"/>
          </a:xfrm>
          <a:prstGeom prst="roundRect">
            <a:avLst>
              <a:gd name="adj" fmla="val 3117"/>
            </a:avLst>
          </a:prstGeom>
          <a:solidFill>
            <a:srgbClr val="0F2245"/>
          </a:solidFill>
          <a:ln/>
        </p:spPr>
      </p:sp>
      <p:sp>
        <p:nvSpPr>
          <p:cNvPr id="23" name="Shape 20"/>
          <p:cNvSpPr/>
          <p:nvPr/>
        </p:nvSpPr>
        <p:spPr>
          <a:xfrm>
            <a:off x="6583680" y="1801368"/>
            <a:ext cx="512064" cy="512064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24" name="Image 1" descr="icons/ro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1213" y="1908901"/>
            <a:ext cx="296997" cy="296997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223760" y="183794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650" dirty="0"/>
          </a:p>
        </p:txBody>
      </p:sp>
      <p:sp>
        <p:nvSpPr>
          <p:cNvPr id="26" name="Shape 22"/>
          <p:cNvSpPr/>
          <p:nvPr/>
        </p:nvSpPr>
        <p:spPr>
          <a:xfrm>
            <a:off x="6629400" y="2519172"/>
            <a:ext cx="91440" cy="91440"/>
          </a:xfrm>
          <a:prstGeom prst="ellipse">
            <a:avLst/>
          </a:prstGeom>
          <a:solidFill>
            <a:srgbClr val="6FA0F0"/>
          </a:solidFill>
          <a:ln/>
        </p:spPr>
      </p:sp>
      <p:sp>
        <p:nvSpPr>
          <p:cNvPr id="27" name="Text 23"/>
          <p:cNvSpPr/>
          <p:nvPr/>
        </p:nvSpPr>
        <p:spPr>
          <a:xfrm>
            <a:off x="6858000" y="241401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629400" y="2939796"/>
            <a:ext cx="91440" cy="91440"/>
          </a:xfrm>
          <a:prstGeom prst="ellipse">
            <a:avLst/>
          </a:prstGeom>
          <a:solidFill>
            <a:srgbClr val="6FA0F0"/>
          </a:solidFill>
          <a:ln/>
        </p:spPr>
      </p:sp>
      <p:sp>
        <p:nvSpPr>
          <p:cNvPr id="29" name="Text 25"/>
          <p:cNvSpPr/>
          <p:nvPr/>
        </p:nvSpPr>
        <p:spPr>
          <a:xfrm>
            <a:off x="685800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6629400" y="3360420"/>
            <a:ext cx="91440" cy="91440"/>
          </a:xfrm>
          <a:prstGeom prst="ellipse">
            <a:avLst/>
          </a:prstGeom>
          <a:solidFill>
            <a:srgbClr val="6FA0F0"/>
          </a:solidFill>
          <a:ln/>
        </p:spPr>
      </p:sp>
      <p:sp>
        <p:nvSpPr>
          <p:cNvPr id="31" name="Text 27"/>
          <p:cNvSpPr/>
          <p:nvPr/>
        </p:nvSpPr>
        <p:spPr>
          <a:xfrm>
            <a:off x="6858000" y="325526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Recording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6629400" y="3781044"/>
            <a:ext cx="91440" cy="91440"/>
          </a:xfrm>
          <a:prstGeom prst="ellipse">
            <a:avLst/>
          </a:prstGeom>
          <a:solidFill>
            <a:srgbClr val="6FA0F0"/>
          </a:solidFill>
          <a:ln/>
        </p:spPr>
      </p:sp>
      <p:sp>
        <p:nvSpPr>
          <p:cNvPr id="33" name="Text 29"/>
          <p:cNvSpPr/>
          <p:nvPr/>
        </p:nvSpPr>
        <p:spPr>
          <a:xfrm>
            <a:off x="6858000" y="367588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6629400" y="4201668"/>
            <a:ext cx="91440" cy="91440"/>
          </a:xfrm>
          <a:prstGeom prst="ellipse">
            <a:avLst/>
          </a:prstGeom>
          <a:solidFill>
            <a:srgbClr val="6FA0F0"/>
          </a:solidFill>
          <a:ln/>
        </p:spPr>
      </p:sp>
      <p:sp>
        <p:nvSpPr>
          <p:cNvPr id="35" name="Text 31"/>
          <p:cNvSpPr/>
          <p:nvPr/>
        </p:nvSpPr>
        <p:spPr>
          <a:xfrm>
            <a:off x="6858000" y="40965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250" dirty="0"/>
          </a:p>
        </p:txBody>
      </p:sp>
      <p:sp>
        <p:nvSpPr>
          <p:cNvPr id="36" name="Shape 32"/>
          <p:cNvSpPr/>
          <p:nvPr/>
        </p:nvSpPr>
        <p:spPr>
          <a:xfrm>
            <a:off x="6629400" y="4622292"/>
            <a:ext cx="91440" cy="91440"/>
          </a:xfrm>
          <a:prstGeom prst="ellipse">
            <a:avLst/>
          </a:prstGeom>
          <a:solidFill>
            <a:srgbClr val="6FA0F0"/>
          </a:solidFill>
          <a:ln/>
        </p:spPr>
      </p:sp>
      <p:sp>
        <p:nvSpPr>
          <p:cNvPr id="37" name="Text 33"/>
          <p:cNvSpPr/>
          <p:nvPr/>
        </p:nvSpPr>
        <p:spPr>
          <a:xfrm>
            <a:off x="6858000" y="451713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Export (PDF / Excel)</a:t>
            </a:r>
            <a:endParaRPr lang="en-US" sz="1250" dirty="0"/>
          </a:p>
        </p:txBody>
      </p:sp>
      <p:sp>
        <p:nvSpPr>
          <p:cNvPr id="38" name="Shape 34"/>
          <p:cNvSpPr/>
          <p:nvPr/>
        </p:nvSpPr>
        <p:spPr>
          <a:xfrm>
            <a:off x="3108960" y="5303520"/>
            <a:ext cx="5971032" cy="960120"/>
          </a:xfrm>
          <a:prstGeom prst="roundRect">
            <a:avLst>
              <a:gd name="adj" fmla="val 11429"/>
            </a:avLst>
          </a:prstGeom>
          <a:solidFill>
            <a:srgbClr val="E8F1FB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108960" y="5394960"/>
            <a:ext cx="5971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40" name="Text 36"/>
          <p:cNvSpPr/>
          <p:nvPr/>
        </p:nvSpPr>
        <p:spPr>
          <a:xfrm>
            <a:off x="3108960" y="5852160"/>
            <a:ext cx="5971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300" dirty="0"/>
          </a:p>
        </p:txBody>
      </p:sp>
      <p:sp>
        <p:nvSpPr>
          <p:cNvPr id="41" name="Text 3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VoiceCRM  | AI Project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296</Words>
  <Application>Microsoft Office PowerPoint</Application>
  <PresentationFormat>Widescreen</PresentationFormat>
  <Paragraphs>90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Rabia Nadeem</cp:lastModifiedBy>
  <cp:revision>3</cp:revision>
  <dcterms:created xsi:type="dcterms:W3CDTF">2026-08-05T04:38:24Z</dcterms:created>
  <dcterms:modified xsi:type="dcterms:W3CDTF">2026-08-05T06:29:39Z</dcterms:modified>
</cp:coreProperties>
</file>